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2" r:id="rId3"/>
    <p:sldId id="263" r:id="rId4"/>
    <p:sldId id="264" r:id="rId5"/>
    <p:sldId id="267" r:id="rId6"/>
    <p:sldId id="257" r:id="rId7"/>
    <p:sldId id="258" r:id="rId8"/>
    <p:sldId id="259" r:id="rId9"/>
    <p:sldId id="260" r:id="rId10"/>
    <p:sldId id="266" r:id="rId11"/>
    <p:sldId id="261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9825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3B4A8C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3B4A8C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Matching Database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68680" y="310896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college placement cell keeps students, companies, and applications straight — in one MySQL schema.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4434840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3B4A8C">
              <a:alpha val="70000"/>
            </a:srgbClr>
          </a:solidFill>
          <a:ln w="12700">
            <a:solidFill>
              <a:srgbClr val="5567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68680" y="45720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68680" y="5212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4434840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3B4A8C">
              <a:alpha val="70000"/>
            </a:srgbClr>
          </a:solidFill>
          <a:ln w="12700">
            <a:solidFill>
              <a:srgbClr val="5567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429000" y="45720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29000" y="5212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4434840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3B4A8C">
              <a:alpha val="70000"/>
            </a:srgbClr>
          </a:solidFill>
          <a:ln w="12700">
            <a:solidFill>
              <a:srgbClr val="5567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989320" y="45720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989320" y="5212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49640" y="4434840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3B4A8C">
              <a:alpha val="70000"/>
            </a:srgbClr>
          </a:solidFill>
          <a:ln w="12700">
            <a:solidFill>
              <a:srgbClr val="5567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549640" y="45720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549640" y="5212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MySQL 8  ·  reviewed for logic gaps before it ships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096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E2761"/>
                </a:solidFill>
                <a:latin typeface="Cambria"/>
              </a:rPr>
              <a:t>Project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6825" y="1555415"/>
            <a:ext cx="5446775" cy="96012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>
            <a:noFill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5612" y="1629461"/>
            <a:ext cx="498957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dirty="0">
                <a:solidFill>
                  <a:srgbClr val="6B7280"/>
                </a:solidFill>
                <a:latin typeface="Calibri"/>
              </a:rPr>
              <a:t>PROJECT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611" y="1896394"/>
            <a:ext cx="49895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 dirty="0">
                <a:solidFill>
                  <a:srgbClr val="1E2761"/>
                </a:solidFill>
                <a:latin typeface="Calibri"/>
              </a:rPr>
              <a:t>AI-Assisted Resume and Job Matching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6B7280"/>
                </a:solidFill>
                <a:latin typeface="Calibri"/>
              </a:rPr>
              <a:t>TEAM MEMBERS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3182112"/>
          <a:ext cx="11094719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0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Sr. No.</a:t>
                      </a:r>
                    </a:p>
                  </a:txBody>
                  <a:tcPr marL="13716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13716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PRN</a:t>
                      </a:r>
                    </a:p>
                  </a:txBody>
                  <a:tcPr marL="137160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2283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831"/>
                          </a:solidFill>
                          <a:latin typeface="Calibri"/>
                        </a:rPr>
                        <a:t>Ria Mudhole</a:t>
                      </a:r>
                    </a:p>
                  </a:txBody>
                  <a:tcPr marL="5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831"/>
                          </a:solidFill>
                          <a:latin typeface="Calibri"/>
                        </a:rPr>
                        <a:t>1262251691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2283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37160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831"/>
                          </a:solidFill>
                          <a:latin typeface="Calibri"/>
                        </a:rPr>
                        <a:t>Mansi Kumari</a:t>
                      </a:r>
                    </a:p>
                  </a:txBody>
                  <a:tcPr marL="560000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831"/>
                          </a:solidFill>
                          <a:latin typeface="Calibri"/>
                        </a:rPr>
                        <a:t>1262251426</a:t>
                      </a:r>
                    </a:p>
                  </a:txBody>
                  <a:tcPr marL="137160" anchor="ctr"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2283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831"/>
                          </a:solidFill>
                          <a:latin typeface="Calibri"/>
                        </a:rPr>
                        <a:t>Aditya Agarwal</a:t>
                      </a:r>
                    </a:p>
                  </a:txBody>
                  <a:tcPr marL="5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831"/>
                          </a:solidFill>
                          <a:latin typeface="Calibri"/>
                        </a:rPr>
                        <a:t>1262251124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2283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37160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831"/>
                          </a:solidFill>
                          <a:latin typeface="Calibri"/>
                        </a:rPr>
                        <a:t>Dhani Jain</a:t>
                      </a:r>
                    </a:p>
                  </a:txBody>
                  <a:tcPr marL="560000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831"/>
                          </a:solidFill>
                          <a:latin typeface="Calibri"/>
                        </a:rPr>
                        <a:t>1262251217</a:t>
                      </a:r>
                    </a:p>
                  </a:txBody>
                  <a:tcPr marL="137160" anchor="ctr"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490411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Job Matching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4552" y="6490411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978800" y="3735344"/>
            <a:ext cx="320000" cy="3200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RM</a:t>
            </a:r>
          </a:p>
        </p:txBody>
      </p:sp>
      <p:sp>
        <p:nvSpPr>
          <p:cNvPr id="16" name="Oval 15"/>
          <p:cNvSpPr/>
          <p:nvPr/>
        </p:nvSpPr>
        <p:spPr>
          <a:xfrm>
            <a:off x="1978800" y="4210832"/>
            <a:ext cx="320000" cy="3200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17" name="Oval 16"/>
          <p:cNvSpPr/>
          <p:nvPr/>
        </p:nvSpPr>
        <p:spPr>
          <a:xfrm>
            <a:off x="1978800" y="4686320"/>
            <a:ext cx="320000" cy="3200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AA</a:t>
            </a:r>
          </a:p>
        </p:txBody>
      </p:sp>
      <p:sp>
        <p:nvSpPr>
          <p:cNvPr id="18" name="Oval 17"/>
          <p:cNvSpPr/>
          <p:nvPr/>
        </p:nvSpPr>
        <p:spPr>
          <a:xfrm>
            <a:off x="1978800" y="5161808"/>
            <a:ext cx="320000" cy="3200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DJ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Why a placement cell needs more than a spreadsheet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433059" cy="443484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>
            <a:noFill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01368"/>
            <a:ext cx="488441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mbria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58568"/>
            <a:ext cx="4884419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831"/>
                </a:solidFill>
                <a:latin typeface="Calibri"/>
              </a:rPr>
              <a:t>College placement cells juggle hundreds of students, dozens of recruiting companies, and thousands of resume submissions — usually across spreadsheets that go stale the moment a job closes or a CGPA is updated.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40"/>
            <a:ext cx="4884419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>
                <a:solidFill>
                  <a:srgbClr val="222831"/>
                </a:solidFill>
                <a:latin typeface="Calibri"/>
              </a:rPr>
              <a:t>•  No reliable way to confirm a student actually meets a job's requirements before they're nudged to apply.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>
                <a:solidFill>
                  <a:srgbClr val="222831"/>
                </a:solidFill>
                <a:latin typeface="Calibri"/>
              </a:rPr>
              <a:t>•  No single source of truth for what changed on an application, when, or why.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299" y="1600200"/>
            <a:ext cx="5433059" cy="44348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4619" y="1801368"/>
            <a:ext cx="488441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This project's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4619" y="2258568"/>
            <a:ext cx="488441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An AI-assisted MySQL database that: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4619" y="2770632"/>
            <a:ext cx="4884419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•  Verifies a company before any of its jobs go live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•  Tracks every resume version and status change automatically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•  Computes the exact skill gap between a student's profile and a job's requirements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•  Gives a data-backed answer to ‘am I qualified for this?’ — instead of a guess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0411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Job Matching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4552" y="6490411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4967"/>
            <a:ext cx="1060704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E2761"/>
                </a:solidFill>
                <a:latin typeface="Cambria"/>
              </a:rPr>
              <a:t>ER </a:t>
            </a:r>
            <a:r>
              <a:rPr sz="3000" b="1" i="0" dirty="0" err="1">
                <a:solidFill>
                  <a:srgbClr val="1E2761"/>
                </a:solidFill>
                <a:latin typeface="Cambria"/>
              </a:rPr>
              <a:t>Diagra</a:t>
            </a:r>
            <a:r>
              <a:rPr lang="en-IN" sz="3000" b="1" i="0" dirty="0">
                <a:solidFill>
                  <a:srgbClr val="1E2761"/>
                </a:solidFill>
                <a:latin typeface="Cambria"/>
              </a:rPr>
              <a:t>m</a:t>
            </a:r>
            <a:endParaRPr sz="3000" b="1" i="0" dirty="0">
              <a:solidFill>
                <a:srgbClr val="1E2761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042972"/>
            <a:ext cx="108813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IN" sz="1300" dirty="0">
                <a:solidFill>
                  <a:srgbClr val="6B7280"/>
                </a:solidFill>
                <a:latin typeface="Calibri"/>
              </a:rPr>
              <a:t>Ten</a:t>
            </a:r>
            <a:r>
              <a:rPr sz="1300" b="0" i="0" dirty="0">
                <a:solidFill>
                  <a:srgbClr val="6B7280"/>
                </a:solidFill>
                <a:latin typeface="Calibri"/>
              </a:rPr>
              <a:t> entities and their relational tables, side by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0411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Job Matching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490411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72B6EE-46F3-4A36-8229-63E584D70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081" y="1292402"/>
            <a:ext cx="8144642" cy="54319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62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4967"/>
            <a:ext cx="1060704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E2761"/>
                </a:solidFill>
                <a:latin typeface="Cambria"/>
              </a:rPr>
              <a:t>Relational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42972"/>
            <a:ext cx="108813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IN" sz="1300" dirty="0">
                <a:solidFill>
                  <a:srgbClr val="6B7280"/>
                </a:solidFill>
                <a:latin typeface="Calibri"/>
              </a:rPr>
              <a:t>Ten</a:t>
            </a:r>
            <a:r>
              <a:rPr sz="1300" b="0" i="0" dirty="0">
                <a:solidFill>
                  <a:srgbClr val="6B7280"/>
                </a:solidFill>
                <a:latin typeface="Calibri"/>
              </a:rPr>
              <a:t> entities and their relational tables, side by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0411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Job Matching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490411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352430-608A-4852-BE09-54FD94FD6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976" y="1338842"/>
            <a:ext cx="9646024" cy="542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539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actually in here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tables, but they fall into four groups you can hold in your head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810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using 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1762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STUDENT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people: staff logins, and every student's department, year and CGPA.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53796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537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23760" y="1810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graph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23760" y="21762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· STUDENT_SKILL · JOB_SKILL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27889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list of skills, so a student's Python and a job's Python are the same row.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22960" y="4480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44622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hiring side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48280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· JOB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54406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have to be verified before a single job of theirs can go live — enforced by a trigger, not just a form.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420624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537960" y="4480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53796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23760" y="44622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trail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23760" y="48280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· RESUME_VERSION · APPLICATION · APPLICATION_STATUS_HISTORY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37960" y="54406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resume version and every status change is kept, so nothing about an application is ever a guess.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Matching Database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trace one student through 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sample data already sitting in the tables — no hypotheticals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200400" cy="4434840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Sharma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45920" y="2176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· Year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697480"/>
            <a:ext cx="2651760" cy="0"/>
          </a:xfrm>
          <a:prstGeom prst="line">
            <a:avLst/>
          </a:prstGeom>
          <a:noFill/>
          <a:ln w="12700">
            <a:solidFill>
              <a:srgbClr val="4A5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  8.50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skills on file: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 — Intermediate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3913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SQL — Advanced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42611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HTML — Intermediate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937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resume versions on file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with resume v2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977640" y="3589020"/>
            <a:ext cx="685800" cy="365760"/>
          </a:xfrm>
          <a:prstGeom prst="rightArrow">
            <a:avLst/>
          </a:prstGeom>
          <a:solidFill>
            <a:srgbClr val="3B4A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892040" y="1554480"/>
            <a:ext cx="3200400" cy="4434840"/>
          </a:xfrm>
          <a:prstGeom prst="roundRect">
            <a:avLst>
              <a:gd name="adj" fmla="val 3429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166360" y="1828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Developer Intern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66360" y="2331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Solutions · Pune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66360" y="2697480"/>
            <a:ext cx="2651760" cy="0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166360" y="2834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CGPA  ≥ 7.50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66360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it's asking for: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57800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 — Intermediate  (required)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3913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SQL — Intermediate  (required)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42611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Git — Beginner  (nice to have)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4937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31 Dec 2027 · still open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549640" y="1554480"/>
            <a:ext cx="3108960" cy="4434840"/>
          </a:xfrm>
          <a:prstGeom prst="roundRect">
            <a:avLst>
              <a:gd name="adj" fmla="val 3529"/>
            </a:avLst>
          </a:prstGeom>
          <a:solidFill>
            <a:srgbClr val="E7F4EC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882396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 qualifies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82396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55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 clears the 7.50 bar, and both required skills are on his profile.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823960" y="3108960"/>
            <a:ext cx="2560320" cy="0"/>
          </a:xfrm>
          <a:prstGeom prst="line">
            <a:avLst/>
          </a:prstGeom>
          <a:noFill/>
          <a:ln w="12700">
            <a:solidFill>
              <a:srgbClr val="BFE0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82396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55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GetSkillGap would say: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23960" y="3611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55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missing — the only gap is Git, and that's optional.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823960" y="4343400"/>
            <a:ext cx="2560320" cy="0"/>
          </a:xfrm>
          <a:prstGeom prst="line">
            <a:avLst/>
          </a:prstGeom>
          <a:noFill/>
          <a:ln w="12700">
            <a:solidFill>
              <a:srgbClr val="BFE0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82396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knowing: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823960" y="4846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GetStudentJobs itself only checks for one shared skill, not all required ones — Rahul happens to pass either way.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Matching Database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database looks after itself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triggers stop bad data before it lands; two procedures do the matching legwork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TRIGGERS CATCH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263640" y="15087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PROCEDURES DO</a:t>
            </a:r>
            <a:endParaRPr lang="en-US" sz="1300" dirty="0"/>
          </a:p>
        </p:txBody>
      </p:sp>
      <p:pic>
        <p:nvPicPr>
          <p:cNvPr id="9" name="Image 0" descr="ic_veri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20574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unverified company tries to post a job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23408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outright — verification has to happen first.</a:t>
            </a:r>
            <a:endParaRPr lang="en-US" sz="1050" dirty="0"/>
          </a:p>
        </p:txBody>
      </p:sp>
      <p:pic>
        <p:nvPicPr>
          <p:cNvPr id="12" name="Image 1" descr="ic_dead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5468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31089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applies after the deadline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51560" y="339242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— same if the job's been closed.</a:t>
            </a:r>
            <a:endParaRPr lang="en-US" sz="1050" dirty="0"/>
          </a:p>
        </p:txBody>
      </p:sp>
      <p:pic>
        <p:nvPicPr>
          <p:cNvPr id="15" name="Image 2" descr="ic_resu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0624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4160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attaches a resume that isn't theirs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51560" y="44439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— the resume has to belong to the applicant.</a:t>
            </a:r>
            <a:endParaRPr lang="en-US" sz="1050" dirty="0"/>
          </a:p>
        </p:txBody>
      </p:sp>
      <p:pic>
        <p:nvPicPr>
          <p:cNvPr id="18" name="Image 3" descr="ic_his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25780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1560" y="5212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application's status changes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051560" y="54955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automatically, from the very first 'Applied'.</a:t>
            </a:r>
            <a:endParaRPr lang="en-US" sz="1050" dirty="0"/>
          </a:p>
        </p:txBody>
      </p:sp>
      <p:pic>
        <p:nvPicPr>
          <p:cNvPr id="21" name="Image 4" descr="ic_getjob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2103120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766560" y="20574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GetStudentJobs(id)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6766560" y="2340864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should I even apply to?” — every open, qualifying job in one call.</a:t>
            </a:r>
            <a:endParaRPr lang="en-US" sz="1050" dirty="0"/>
          </a:p>
        </p:txBody>
      </p:sp>
      <p:pic>
        <p:nvPicPr>
          <p:cNvPr id="24" name="Image 5" descr="ic_getg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291840"/>
            <a:ext cx="384048" cy="38404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766560" y="32461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GetSkillGap(id, job)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766560" y="3529584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am I missing?” — the exact skills a student still needs for one job.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6492240" y="4754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6492240" y="504748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Matching Database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views turn common questions into a single ready-made query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Matching Database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1" name="TextBox 30"/>
          <p:cNvSpPr txBox="1"/>
          <p:nvPr/>
        </p:nvSpPr>
        <p:spPr>
          <a:xfrm>
            <a:off x="548640" y="1508760"/>
            <a:ext cx="11018520" cy="1905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100" b="1" i="0" spc="150">
                <a:solidFill>
                  <a:srgbClr val="8A5A00"/>
                </a:solidFill>
                <a:latin typeface="Calibri"/>
              </a:rPr>
              <a:t>JOBS &amp; COMPANIES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1760220"/>
            <a:ext cx="5349240" cy="82000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77240" y="1940220"/>
            <a:ext cx="460000" cy="4600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con_active_j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240" y="2040220"/>
            <a:ext cx="260000" cy="260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387240" y="1870220"/>
            <a:ext cx="4282040" cy="300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50" b="0" i="1">
                <a:solidFill>
                  <a:srgbClr val="222831"/>
                </a:solidFill>
                <a:latin typeface="Calibri"/>
              </a:rPr>
              <a:t>“What jobs are open right now?”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7240" y="2190220"/>
            <a:ext cx="42820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Courier New"/>
              </a:rPr>
              <a:t>ACTIVE_JOBS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1760220"/>
            <a:ext cx="5349240" cy="82000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446520" y="1940220"/>
            <a:ext cx="460000" cy="4600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con_company_verifi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6520" y="2040220"/>
            <a:ext cx="260000" cy="260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056520" y="1870220"/>
            <a:ext cx="4282040" cy="300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50" b="0" i="1">
                <a:solidFill>
                  <a:srgbClr val="222831"/>
                </a:solidFill>
                <a:latin typeface="Calibri"/>
              </a:rPr>
              <a:t>“Is this company legit yet?”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6520" y="2190220"/>
            <a:ext cx="42820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Courier New"/>
              </a:rPr>
              <a:t>COMPANY_VERIFICATION_REPORT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2740240"/>
            <a:ext cx="11018520" cy="1905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100" b="1" i="0" spc="150">
                <a:solidFill>
                  <a:srgbClr val="8A5A00"/>
                </a:solidFill>
                <a:latin typeface="Calibri"/>
              </a:rPr>
              <a:t>APPLICATION PIPELINE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2991700"/>
            <a:ext cx="5349240" cy="82000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77240" y="3171700"/>
            <a:ext cx="460000" cy="4600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con_job_applic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240" y="3271700"/>
            <a:ext cx="260000" cy="2600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387240" y="3101700"/>
            <a:ext cx="4282040" cy="300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50" b="0" i="1">
                <a:solidFill>
                  <a:srgbClr val="222831"/>
                </a:solidFill>
                <a:latin typeface="Calibri"/>
              </a:rPr>
              <a:t>“How many applied to this job?”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87240" y="3421700"/>
            <a:ext cx="42820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Courier New"/>
              </a:rPr>
              <a:t>JOB_APPLICATION_REPORT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2991700"/>
            <a:ext cx="5349240" cy="82000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6446520" y="3171700"/>
            <a:ext cx="460000" cy="4600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icon_application_stat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6520" y="3271700"/>
            <a:ext cx="260000" cy="2600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056520" y="3101700"/>
            <a:ext cx="4282040" cy="300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50" b="0" i="1">
                <a:solidFill>
                  <a:srgbClr val="222831"/>
                </a:solidFill>
                <a:latin typeface="Calibri"/>
              </a:rPr>
              <a:t>“Where’s everyone in the pipeline?”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56520" y="3421700"/>
            <a:ext cx="42820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Courier New"/>
              </a:rPr>
              <a:t>APPLICATION_STATUS_REPORT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3971720"/>
            <a:ext cx="11018520" cy="1905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100" b="1" i="0" spc="150">
                <a:solidFill>
                  <a:srgbClr val="8A5A00"/>
                </a:solidFill>
                <a:latin typeface="Calibri"/>
              </a:rPr>
              <a:t>MATCHING &amp; SKILLS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4223180"/>
            <a:ext cx="5349240" cy="82000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777240" y="4403180"/>
            <a:ext cx="460000" cy="4600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con_student_job_match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240" y="4503180"/>
            <a:ext cx="260000" cy="2600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387240" y="4333180"/>
            <a:ext cx="4282040" cy="300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50" b="0" i="1">
                <a:solidFill>
                  <a:srgbClr val="222831"/>
                </a:solidFill>
                <a:latin typeface="Calibri"/>
              </a:rPr>
              <a:t>“Who’s a good fit for what’s open?”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87240" y="4653180"/>
            <a:ext cx="42820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Courier New"/>
              </a:rPr>
              <a:t>STUDENT_JOB_MATCHES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4223180"/>
            <a:ext cx="5349240" cy="82000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6446520" y="4403180"/>
            <a:ext cx="460000" cy="4600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Picture 60" descr="icon_student_skil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6520" y="4503180"/>
            <a:ext cx="260000" cy="2600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056520" y="4333180"/>
            <a:ext cx="4282040" cy="300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50" b="0" i="1">
                <a:solidFill>
                  <a:srgbClr val="222831"/>
                </a:solidFill>
                <a:latin typeface="Calibri"/>
              </a:rPr>
              <a:t>“What can this student actually do?”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56520" y="4653180"/>
            <a:ext cx="42820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Courier New"/>
              </a:rPr>
              <a:t>STUDENT_SKILL_REPORT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5203200"/>
            <a:ext cx="11018520" cy="1905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100" b="1" i="0" spc="150">
                <a:solidFill>
                  <a:srgbClr val="8A5A00"/>
                </a:solidFill>
                <a:latin typeface="Calibri"/>
              </a:rPr>
              <a:t>HISTORY &amp; DEMAND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5454660"/>
            <a:ext cx="5349240" cy="82000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777240" y="5634660"/>
            <a:ext cx="460000" cy="4600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7" name="Picture 66" descr="icon_application_histo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240" y="5734660"/>
            <a:ext cx="260000" cy="26000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387240" y="5564660"/>
            <a:ext cx="4282040" cy="300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50" b="0" i="1">
                <a:solidFill>
                  <a:srgbClr val="222831"/>
                </a:solidFill>
                <a:latin typeface="Calibri"/>
              </a:rPr>
              <a:t>“What happened to this application?”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87240" y="5884660"/>
            <a:ext cx="42820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Courier New"/>
              </a:rPr>
              <a:t>APPLICATION_HISTORY_REPORT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17920" y="5454660"/>
            <a:ext cx="5349240" cy="82000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6446520" y="5634660"/>
            <a:ext cx="460000" cy="4600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Picture 71" descr="icon_most_demanded_skill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6520" y="5734660"/>
            <a:ext cx="260000" cy="26000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7056520" y="5564660"/>
            <a:ext cx="4282040" cy="300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50" b="0" i="1">
                <a:solidFill>
                  <a:srgbClr val="222831"/>
                </a:solidFill>
                <a:latin typeface="Calibri"/>
              </a:rPr>
              <a:t>“What skills are companies chasing?”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56520" y="5884660"/>
            <a:ext cx="42820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Courier New"/>
              </a:rPr>
              <a:t>MOST_DEMANDED_SKILLS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Review 2: Implementation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DDL, DML, relational algebra, PL/SQL, and the front-end that talks to all of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45839" cy="256032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>
            <a:noFill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4672" y="1700784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64208"/>
            <a:ext cx="25125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DDL Statements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103120"/>
            <a:ext cx="2512567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22831"/>
                </a:solidFill>
                <a:latin typeface="Calibri"/>
              </a:rPr>
              <a:t>Create-table scripts for all eleven tables, with column- and row-level constraints (NOT NULL, CHECK, FOREIGN KEY) enforced in the schema — not just in application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3079" y="1463040"/>
            <a:ext cx="3545839" cy="256032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>
            <a:noFill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79111" y="1700784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0319" y="1664208"/>
            <a:ext cx="25125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DML Queries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0319" y="2103120"/>
            <a:ext cx="2512567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22831"/>
                </a:solidFill>
                <a:latin typeface="Calibri"/>
              </a:rPr>
              <a:t>Ten-plus real user requests — “what jobs are open for me”, “who applied to this posting” — written first in plain English, then mapped to the SQL that answers them.</a:t>
            </a:r>
          </a:p>
        </p:txBody>
      </p:sp>
      <p:sp>
        <p:nvSpPr>
          <p:cNvPr id="23" name="RA 23"/>
          <p:cNvSpPr/>
          <p:nvPr/>
        </p:nvSpPr>
        <p:spPr>
          <a:xfrm>
            <a:off x="8097518" y="1463040"/>
            <a:ext cx="3545839" cy="256032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>
            <a:noFill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A 24"/>
          <p:cNvSpPr/>
          <p:nvPr/>
        </p:nvSpPr>
        <p:spPr>
          <a:xfrm>
            <a:off x="8353550" y="1700784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RA 25"/>
          <p:cNvSpPr txBox="1"/>
          <p:nvPr/>
        </p:nvSpPr>
        <p:spPr>
          <a:xfrm>
            <a:off x="8874758" y="1664208"/>
            <a:ext cx="25125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Relational Algebra</a:t>
            </a:r>
          </a:p>
        </p:txBody>
      </p:sp>
      <p:sp>
        <p:nvSpPr>
          <p:cNvPr id="26" name="RA 26"/>
          <p:cNvSpPr txBox="1"/>
          <p:nvPr/>
        </p:nvSpPr>
        <p:spPr>
          <a:xfrm>
            <a:off x="8874758" y="2103120"/>
            <a:ext cx="2512567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22831"/>
                </a:solidFill>
                <a:latin typeface="Calibri"/>
              </a:rPr>
              <a:t>Each DML query is first written as a relational algebra expression, then translated to SQL.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100" b="1" i="0">
                <a:solidFill>
                  <a:srgbClr val="1E2761"/>
                </a:solidFill>
                <a:latin typeface="Cambria"/>
              </a:rPr>
              <a:t>π title, location ( σ is_active = 1 ∧ deadline ≥ today ( JOB ) )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050" b="0" i="0">
                <a:solidFill>
                  <a:srgbClr val="6B7280"/>
                </a:solidFill>
                <a:latin typeface="Calibri"/>
              </a:rPr>
              <a:t>σ → WHERE   ·   π → SELECT   ·   ⋈ → JOIN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51960"/>
            <a:ext cx="5410199" cy="192024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>
            <a:noFill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04672" y="4489704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453128"/>
            <a:ext cx="440435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PL/SQL Blocks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92040"/>
            <a:ext cx="4404359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22831"/>
                </a:solidFill>
                <a:latin typeface="Calibri"/>
              </a:rPr>
              <a:t>GetStudentJobs and GetSkillGap as procedures with cursors, plus supporting functions and the four triggers already covering verification, deadlines, resume ownership, and status logging.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159" y="4251960"/>
            <a:ext cx="5410199" cy="192024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>
            <a:noFill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89191" y="4489704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399" y="4453128"/>
            <a:ext cx="440435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Front-End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399" y="4892040"/>
            <a:ext cx="4404359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22831"/>
                </a:solidFill>
                <a:latin typeface="Calibri"/>
              </a:rPr>
              <a:t>A Python + Streamlit interface, connected to MySQL via mysql-connector-python, giving students and staff a UI over the queries and procedures above.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0411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Job Matching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4552" y="6490411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Scope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cleanly end to end on MySQL 8 — these are refinements, not bugs.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3B4A8C">
              <a:alpha val="75000"/>
            </a:srgbClr>
          </a:solidFill>
          <a:ln w="12700">
            <a:solidFill>
              <a:srgbClr val="5567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93852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is a bit too generous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GetStudentJobs shows a job if a student shares just one skill with it — mandatory or not. Rahul's fine either way, but someone missing every required skill could still show up because of an optional 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3B4A8C">
              <a:alpha val="75000"/>
            </a:srgbClr>
          </a:solidFill>
          <a:ln w="12700">
            <a:solidFill>
              <a:srgbClr val="5567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446520" y="19659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46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193852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Rejecting a company doesn't undo its jobs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56032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company is verified, posts a job, and later gets rejected, that job stays live. Worth a trigger that closes it out automatically.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3B4A8C">
              <a:alpha val="75000"/>
            </a:srgbClr>
          </a:solidFill>
          <a:ln w="12700">
            <a:solidFill>
              <a:srgbClr val="5567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17880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fields can drift apart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80060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stops verification_status saying 'Verified' while verified_by is still empty. A small check would keep the two in sync.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977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3B4A8C">
              <a:alpha val="75000"/>
            </a:srgbClr>
          </a:solidFill>
          <a:ln w="12700">
            <a:solidFill>
              <a:srgbClr val="5567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446520" y="42062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465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417880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indexes are worth adding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480060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JOB.deadline, JOB.is_active, APPLICATION.status, COMPANY.verification_status — every view here filters on one of these.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Matching Database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1239</Words>
  <Application>Microsoft Office PowerPoint</Application>
  <PresentationFormat>Widescreen</PresentationFormat>
  <Paragraphs>191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7</cp:revision>
  <dcterms:created xsi:type="dcterms:W3CDTF">2026-09-21T06:15:19Z</dcterms:created>
  <dcterms:modified xsi:type="dcterms:W3CDTF">2026-10-14T15:21:52Z</dcterms:modified>
</cp:coreProperties>
</file>